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8" r:id="rId10"/>
    <p:sldId id="266" r:id="rId11"/>
    <p:sldId id="267" r:id="rId12"/>
    <p:sldId id="262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19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52B86-74A4-E8AF-0CB2-1893C396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7F42A-2709-F8B1-7819-0D9809195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305AA-532A-2150-8E33-147514AF8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8687-5C9D-6DEA-4872-0CECF4B8B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7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23F3-CEAB-8109-2505-78F47B38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4A3F7-AEC7-03FB-DA73-36BBE1640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C2828-C3D0-9DAE-99B5-D5BE5C0DA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65606-DD0F-CCCC-D833-C0CCFEF26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66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50D2-9C93-FC7C-EF75-652E38D1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5A03E-E6C6-15F5-46D8-1FA96D2DE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8BE37-C8BE-BFB5-F3D2-C1440400E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A55DD-39C1-AB15-0722-DC52CBE9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32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27CE0-408E-1ACE-80B2-6977C826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43D21-0D4E-AAAA-1F5F-746FEB45A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810AE-08D5-569D-4778-F0CBA67BD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18DB2-D6EA-243A-1558-5889308E2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54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B82B-A774-6B3C-177F-6085E118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47100-FD7E-5DAF-031D-2B2C975C6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D971E-E89C-5B17-2568-30D5B501E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E5C3D-9008-A722-B2B3-221DA727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33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✂️🪨📄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Камень Ножницы Бумага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Интерактивная игра против компьютера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Курс: 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Программная инженерия  | 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</a:t>
            </a:r>
            <a:r>
              <a:rPr lang="ru-RU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</a:t>
            </a:r>
            <a:r>
              <a:rPr lang="ru-RU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4.407-1 группа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Алтайский государственный университет  ·  Барнаул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Цель: </a:t>
            </a: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игру «Камень, Ножницы, Бумага» с GUI, цветовой индикацией, детальным счётом и функцией сброса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06654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механику игры и правила определения победителя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32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алгоритм определения победителя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случайный выбор хода компьютером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735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369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графический интерфейс на Tkinter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06654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029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счётчики трёх исходов: победа / поражение / ничья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32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цветовую индикацию результата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87121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функцию сброса счёта и протестировать программу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Используемые 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и читаемый язык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широкое применение в обучении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058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EC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Встроено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A3A8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Встроенная GUI-библиотека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требует установки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3520440"/>
            <a:ext cx="10058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EC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Встроено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модуль 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случайного выбора хода ПК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3520440"/>
            <a:ext cx="10058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EC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Встроено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09728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A3A8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1228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25146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версий, хранение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исходного кода проекта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69480" y="3520440"/>
            <a:ext cx="10058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EC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Встроено 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программы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rps_game.py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105156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КОНСТАНТЫ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16352" y="140817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ВАРИАНТЫ, ЭМОДЗИ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051560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ГЛОБАЛЬНЫЕ СЧЁТЧИКИ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42432" y="1408176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счёт_игрок / компьютер / ничья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5740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определить_победителя()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41401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определения исхода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словарь комбинаций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05740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сыграть(выбор_игрока)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241401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игровая логика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счёта и GUI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057400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сбросить_счёт()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414016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 счётчиков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 GUI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E5F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3756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GUI (Tkinter)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69417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Окно, метки, кнопки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mainloop()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80160" y="1554480"/>
            <a:ext cx="274320" cy="457200"/>
          </a:xfrm>
          <a:prstGeom prst="line">
            <a:avLst/>
          </a:prstGeom>
          <a:noFill/>
          <a:ln w="19050">
            <a:solidFill>
              <a:srgbClr val="F9616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749040" y="1554480"/>
            <a:ext cx="182880" cy="457200"/>
          </a:xfrm>
          <a:prstGeom prst="line">
            <a:avLst/>
          </a:prstGeom>
          <a:noFill/>
          <a:ln w="19050">
            <a:solidFill>
              <a:srgbClr val="F9616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926080" y="429768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4297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Все компоненты в одном файле — простота запуска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B4E"/>
          </a:solidFill>
          <a:ln w="12700">
            <a:solidFill>
              <a:srgbClr val="10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алгоритмы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D1542"/>
          </a:solidFill>
          <a:ln w="12700">
            <a:solidFill>
              <a:srgbClr val="2D4F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победителя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победные_комбинации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"Камень":  "Ножницы",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"Ножницы": "Бумага",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"Бумага":  "Камень"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игрок == компьютер: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"ничья"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победные_комбинации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[игрок] == компьютер: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"игрок"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"компьютер"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D1542"/>
          </a:solidFill>
          <a:ln w="12700">
            <a:solidFill>
              <a:srgbClr val="2D4F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Цветовая индикация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результат == 'игрок':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цвет = '#2e7d32'  # 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текст = 'Вы выиграли!'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результат == 'компьютер':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цвет = '#c62828'  # 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текст = 'Компьютер выиграл!'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цвет = '#f9a825'  # 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текст = 'Ничья!'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метка_результат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.config(fg=цвет)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96012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417320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417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Десктоп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892808"/>
            <a:ext cx="2286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928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интернет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1892808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18928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1892808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8928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892808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928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368296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682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Детальный счёт (3)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2368296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23682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2368296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3682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368296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368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2843784"/>
            <a:ext cx="2286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4378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 счёта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2843784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843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0" y="2843784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843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2843784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84378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319272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19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Цветовая индикация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60320" y="3319272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33192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89120" y="3319272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33192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7920" y="3319272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3192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3794760"/>
            <a:ext cx="2286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60320" y="3794760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0604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89120" y="3794760"/>
            <a:ext cx="1828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17920" y="3794760"/>
            <a:ext cx="219456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81F0-794B-3B3F-CC53-64F15623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14926F-14F6-7113-DC3A-9FE6B80270D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2712F0-9E60-7EB5-6A09-9ACFD2A24E19}"/>
              </a:ext>
            </a:extLst>
          </p:cNvPr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A617F7-1A84-7527-83EA-AE5B0AADFF0F}"/>
              </a:ext>
            </a:extLst>
          </p:cNvPr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860E3F-DEB8-518D-D798-0A6CF386EF18}"/>
              </a:ext>
            </a:extLst>
          </p:cNvPr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2C483544-50B2-A601-C061-930D1B42750F}"/>
              </a:ext>
            </a:extLst>
          </p:cNvPr>
          <p:cNvSpPr/>
          <p:nvPr/>
        </p:nvSpPr>
        <p:spPr>
          <a:xfrm>
            <a:off x="1371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83AB9C15-5888-2ED5-DE37-BC4A9D231AFC}"/>
              </a:ext>
            </a:extLst>
          </p:cNvPr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Запуск программы</a:t>
            </a:r>
            <a:endParaRPr lang="en-US" sz="1400" dirty="0"/>
          </a:p>
        </p:txBody>
      </p: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7F60E75D-0367-FC67-36F3-3301210B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1554480"/>
            <a:ext cx="2673985" cy="2961640"/>
          </a:xfrm>
          <a:prstGeom prst="rect">
            <a:avLst/>
          </a:prstGeom>
        </p:spPr>
      </p:pic>
      <p:graphicFrame>
        <p:nvGraphicFramePr>
          <p:cNvPr id="63" name="Таблица 62">
            <a:extLst>
              <a:ext uri="{FF2B5EF4-FFF2-40B4-BE49-F238E27FC236}">
                <a16:creationId xmlns:a16="http://schemas.microsoft.com/office/drawing/2014/main" id="{E439A6FE-922B-8309-32A7-7F27251EE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185481"/>
              </p:ext>
            </p:extLst>
          </p:nvPr>
        </p:nvGraphicFramePr>
        <p:xfrm>
          <a:off x="608964" y="1560226"/>
          <a:ext cx="4792091" cy="2955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8026">
                  <a:extLst>
                    <a:ext uri="{9D8B030D-6E8A-4147-A177-3AD203B41FA5}">
                      <a16:colId xmlns:a16="http://schemas.microsoft.com/office/drawing/2014/main" val="381177699"/>
                    </a:ext>
                  </a:extLst>
                </a:gridCol>
                <a:gridCol w="3624065">
                  <a:extLst>
                    <a:ext uri="{9D8B030D-6E8A-4147-A177-3AD203B41FA5}">
                      <a16:colId xmlns:a16="http://schemas.microsoft.com/office/drawing/2014/main" val="1985976254"/>
                    </a:ext>
                  </a:extLst>
                </a:gridCol>
              </a:tblGrid>
              <a:tr h="5558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Действия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Запустить файл rps_game.py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76385394"/>
                  </a:ext>
                </a:extLst>
              </a:tr>
              <a:tr h="9221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Ожидаемый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Окно 400×450 </a:t>
                      </a:r>
                      <a:r>
                        <a:rPr lang="ru-RU" sz="1100" kern="100" dirty="0" err="1">
                          <a:effectLst/>
                        </a:rPr>
                        <a:t>пк</a:t>
                      </a:r>
                      <a:r>
                        <a:rPr lang="ru-RU" sz="1100" kern="100" dirty="0">
                          <a:effectLst/>
                        </a:rPr>
                        <a:t>, синий фон (#e3f2fd), три кнопки, текст «Сделайте свой выбор!», нулевой счёт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95196236"/>
                  </a:ext>
                </a:extLst>
              </a:tr>
              <a:tr h="9221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Фактический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Программа запускается корректно, все элементы отображены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70103013"/>
                  </a:ext>
                </a:extLst>
              </a:tr>
              <a:tr h="5558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Статус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✓ Тест пройден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98644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65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E333D-6ECC-D858-00B6-0CC44366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36C024-9F2B-5A76-2574-C27D8889F1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9F3802-4FB8-DF6B-44B2-6CAC31130238}"/>
              </a:ext>
            </a:extLst>
          </p:cNvPr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15616E7-7D3D-3F34-33B8-458E72E191FE}"/>
              </a:ext>
            </a:extLst>
          </p:cNvPr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7325A9-CCEC-8816-1828-8D9D538A9ECC}"/>
              </a:ext>
            </a:extLst>
          </p:cNvPr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4E58CB4E-5981-987F-7F4F-408EAA20398E}"/>
              </a:ext>
            </a:extLst>
          </p:cNvPr>
          <p:cNvSpPr/>
          <p:nvPr/>
        </p:nvSpPr>
        <p:spPr>
          <a:xfrm>
            <a:off x="1371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F56E5B6A-F202-0603-0B2E-6DBF2B10E89A}"/>
              </a:ext>
            </a:extLst>
          </p:cNvPr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Победа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игрока</a:t>
            </a:r>
            <a:endParaRPr lang="en-US" sz="14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2EDBEC4-9D6C-AECF-8132-3876D9939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044839"/>
              </p:ext>
            </p:extLst>
          </p:nvPr>
        </p:nvGraphicFramePr>
        <p:xfrm>
          <a:off x="440690" y="1463040"/>
          <a:ext cx="5057902" cy="2926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815">
                  <a:extLst>
                    <a:ext uri="{9D8B030D-6E8A-4147-A177-3AD203B41FA5}">
                      <a16:colId xmlns:a16="http://schemas.microsoft.com/office/drawing/2014/main" val="2716020940"/>
                    </a:ext>
                  </a:extLst>
                </a:gridCol>
                <a:gridCol w="3825087">
                  <a:extLst>
                    <a:ext uri="{9D8B030D-6E8A-4147-A177-3AD203B41FA5}">
                      <a16:colId xmlns:a16="http://schemas.microsoft.com/office/drawing/2014/main" val="3833169939"/>
                    </a:ext>
                  </a:extLst>
                </a:gridCol>
              </a:tblGrid>
              <a:tr h="5501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Действия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Нажать кнопку «Камень» (компьютер выбирает «Ножницы»)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78933235"/>
                  </a:ext>
                </a:extLst>
              </a:tr>
              <a:tr h="9128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Ожидаемый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Надпись «Вы выиграли! 🎉» зелёного цвета, счётчик побед +1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21673461"/>
                  </a:ext>
                </a:extLst>
              </a:tr>
              <a:tr h="9128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Фактический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Результат и цвет отображаются корректно, счёт обновлён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00765161"/>
                  </a:ext>
                </a:extLst>
              </a:tr>
              <a:tr h="5501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Статус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✓ Тест пройден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7904662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309EE0-1658-BB68-0EE5-B71686A44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20" y="1463040"/>
            <a:ext cx="25298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9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4414-08B1-CF09-F315-90BCB78B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58BC87-7498-AE0C-691D-902A58C00FF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A68C06-F256-DAD4-0DBD-8B7B9F8461E7}"/>
              </a:ext>
            </a:extLst>
          </p:cNvPr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B15835-EB94-AFB0-52FE-EA19230391A2}"/>
              </a:ext>
            </a:extLst>
          </p:cNvPr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920793-D9ED-2F2F-E64C-21448ABC6AF5}"/>
              </a:ext>
            </a:extLst>
          </p:cNvPr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BCE9B659-A629-E077-3F02-3EDA65028CB3}"/>
              </a:ext>
            </a:extLst>
          </p:cNvPr>
          <p:cNvSpPr/>
          <p:nvPr/>
        </p:nvSpPr>
        <p:spPr>
          <a:xfrm>
            <a:off x="1371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3967D2C6-CFC7-4F0F-E189-E2F6BF628DC0}"/>
              </a:ext>
            </a:extLst>
          </p:cNvPr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Поражение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игрока</a:t>
            </a:r>
            <a:endParaRPr lang="en-US" sz="14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0520338-8A31-9D25-83C8-42D85144A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697266"/>
              </p:ext>
            </p:extLst>
          </p:nvPr>
        </p:nvGraphicFramePr>
        <p:xfrm>
          <a:off x="457200" y="1554480"/>
          <a:ext cx="5053584" cy="2876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1762">
                  <a:extLst>
                    <a:ext uri="{9D8B030D-6E8A-4147-A177-3AD203B41FA5}">
                      <a16:colId xmlns:a16="http://schemas.microsoft.com/office/drawing/2014/main" val="1064272576"/>
                    </a:ext>
                  </a:extLst>
                </a:gridCol>
                <a:gridCol w="3821822">
                  <a:extLst>
                    <a:ext uri="{9D8B030D-6E8A-4147-A177-3AD203B41FA5}">
                      <a16:colId xmlns:a16="http://schemas.microsoft.com/office/drawing/2014/main" val="1360836794"/>
                    </a:ext>
                  </a:extLst>
                </a:gridCol>
              </a:tblGrid>
              <a:tr h="540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Действия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Компьютер побеждает игрока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68355502"/>
                  </a:ext>
                </a:extLst>
              </a:tr>
              <a:tr h="8973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Ожидаемый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Надпись «Компьютер выиграл! 💻» красного цвета, счётчик компьютера +1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27332122"/>
                  </a:ext>
                </a:extLst>
              </a:tr>
              <a:tr h="8973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Фактический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Результат и цвет отображаются корректно, счёт компьютера обновлён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3959146"/>
                  </a:ext>
                </a:extLst>
              </a:tr>
              <a:tr h="540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Статус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✓ Тест пройден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84019117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B5E225-1636-8DCF-8BF1-41FED15E1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582" y="1554480"/>
            <a:ext cx="2391178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7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2F4E-FAC3-63D2-E4BD-D78FD634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0ED5D0-51F9-660E-09C9-DEC3BED5157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F2DE14-4A55-44B6-BEC1-6759ADA51A67}"/>
              </a:ext>
            </a:extLst>
          </p:cNvPr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30D055-B209-4460-F0D9-7673FA17A2F5}"/>
              </a:ext>
            </a:extLst>
          </p:cNvPr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20998C8-9E0E-6F8F-67E4-A6AB2B82E79A}"/>
              </a:ext>
            </a:extLst>
          </p:cNvPr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1CF1370E-5F33-3681-AC8D-4252A4AD00D5}"/>
              </a:ext>
            </a:extLst>
          </p:cNvPr>
          <p:cNvSpPr/>
          <p:nvPr/>
        </p:nvSpPr>
        <p:spPr>
          <a:xfrm>
            <a:off x="1371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3C3D8F87-6899-FB40-D26E-1B00F86CF384}"/>
              </a:ext>
            </a:extLst>
          </p:cNvPr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Ничья</a:t>
            </a:r>
            <a:endParaRPr lang="en-US" sz="14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BB53748-8A64-4394-F796-88FF6D5CB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849344"/>
              </p:ext>
            </p:extLst>
          </p:nvPr>
        </p:nvGraphicFramePr>
        <p:xfrm>
          <a:off x="316357" y="1560226"/>
          <a:ext cx="4926203" cy="3036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714">
                  <a:extLst>
                    <a:ext uri="{9D8B030D-6E8A-4147-A177-3AD203B41FA5}">
                      <a16:colId xmlns:a16="http://schemas.microsoft.com/office/drawing/2014/main" val="594187386"/>
                    </a:ext>
                  </a:extLst>
                </a:gridCol>
                <a:gridCol w="3725489">
                  <a:extLst>
                    <a:ext uri="{9D8B030D-6E8A-4147-A177-3AD203B41FA5}">
                      <a16:colId xmlns:a16="http://schemas.microsoft.com/office/drawing/2014/main" val="94152035"/>
                    </a:ext>
                  </a:extLst>
                </a:gridCol>
              </a:tblGrid>
              <a:tr h="5708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Действиям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Оба выбирают одинаковый ход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49871443"/>
                  </a:ext>
                </a:extLst>
              </a:tr>
              <a:tr h="9471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Ожидаемый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Надпись «Ничья! 🤝» жёлтого цвета, счётчик ничьих +1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20148844"/>
                  </a:ext>
                </a:extLst>
              </a:tr>
              <a:tr h="9471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Фактический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Ничья определяется корректно, цвет и счёт обновлены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36652948"/>
                  </a:ext>
                </a:extLst>
              </a:tr>
              <a:tr h="5708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Статус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✓ Тест пройден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11243090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90C24F-EC05-83BF-E5EF-70C771CC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660" y="1461389"/>
            <a:ext cx="2705100" cy="31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7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D944-5789-3165-77CC-500C096A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2929BE-D92E-0B01-A857-84AAED715E6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843103-BB05-218D-CA3F-DD0FF392D642}"/>
              </a:ext>
            </a:extLst>
          </p:cNvPr>
          <p:cNvSpPr/>
          <p:nvPr/>
        </p:nvSpPr>
        <p:spPr>
          <a:xfrm>
            <a:off x="26060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RPS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89760A-CD20-F964-C2E2-2AE5216B146D}"/>
              </a:ext>
            </a:extLst>
          </p:cNvPr>
          <p:cNvSpPr/>
          <p:nvPr/>
        </p:nvSpPr>
        <p:spPr>
          <a:xfrm>
            <a:off x="443484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Браузерные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D15CA6-F08F-BCC3-DF4C-3B7A813EEBBA}"/>
              </a:ext>
            </a:extLst>
          </p:cNvPr>
          <p:cNvSpPr/>
          <p:nvPr/>
        </p:nvSpPr>
        <p:spPr>
          <a:xfrm>
            <a:off x="62636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реализация</a:t>
            </a:r>
            <a:endParaRPr lang="en-US" sz="13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3385CB62-6C28-8C22-A8F6-1720814F4C8B}"/>
              </a:ext>
            </a:extLst>
          </p:cNvPr>
          <p:cNvSpPr/>
          <p:nvPr/>
        </p:nvSpPr>
        <p:spPr>
          <a:xfrm>
            <a:off x="1371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9E6F15A9-B32D-6401-5F01-03160F61EC2C}"/>
              </a:ext>
            </a:extLst>
          </p:cNvPr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</a:t>
            </a: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счёта</a:t>
            </a:r>
            <a:endParaRPr lang="en-US" sz="14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4B95248-9378-8C14-E612-D95E3B537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15998"/>
              </p:ext>
            </p:extLst>
          </p:nvPr>
        </p:nvGraphicFramePr>
        <p:xfrm>
          <a:off x="457200" y="1649952"/>
          <a:ext cx="4882896" cy="2958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0159">
                  <a:extLst>
                    <a:ext uri="{9D8B030D-6E8A-4147-A177-3AD203B41FA5}">
                      <a16:colId xmlns:a16="http://schemas.microsoft.com/office/drawing/2014/main" val="1765910512"/>
                    </a:ext>
                  </a:extLst>
                </a:gridCol>
                <a:gridCol w="3692737">
                  <a:extLst>
                    <a:ext uri="{9D8B030D-6E8A-4147-A177-3AD203B41FA5}">
                      <a16:colId xmlns:a16="http://schemas.microsoft.com/office/drawing/2014/main" val="644681839"/>
                    </a:ext>
                  </a:extLst>
                </a:gridCol>
              </a:tblGrid>
              <a:tr h="5563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Действия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Сыграть несколько раундов, нажать «Сбросить счёт»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45225924"/>
                  </a:ext>
                </a:extLst>
              </a:tr>
              <a:tr h="9229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Ожидаемый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Все счётчики = 0, текст «Сделайте свой выбор!», выбор сторон «—»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4222865"/>
                  </a:ext>
                </a:extLst>
              </a:tr>
              <a:tr h="9229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Фактический результат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Сброс работает корректно, все элементы GUI в начальном состоянии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43956453"/>
                  </a:ext>
                </a:extLst>
              </a:tr>
              <a:tr h="5563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>
                          <a:effectLst/>
                        </a:rPr>
                        <a:t>Статус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ru-RU" sz="1100" kern="100" dirty="0">
                          <a:effectLst/>
                        </a:rPr>
                        <a:t>✓ Тест пройден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54279869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010F07-29EA-3306-5FBF-1199EE5C6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842" y="1649952"/>
            <a:ext cx="2484476" cy="29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Запуск программы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051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открывается, все элементы на месте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75320" y="118872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Победа игрока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Зелёный цвет, счётчик побед +1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96596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Поражение игрока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цвет, счётчик ПК +1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75320" y="274320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Ничья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383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Жёлтый цвет, счётчик ничьих +1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352044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Сброс счёта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счётчики = 0, GUI в начальном состоянии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429768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Алгоритм победителя через словарь комбинаций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184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Случайный выбор хода компьютером (модуль random)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756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GUI на Tkinter: кнопки, метки, эмодзи-иконки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328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Детальный счёт трёх исходов (победа / поражение / ничья)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00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Цветовая индикация: 🟢 зелёный / 🔴 красный / 🟡 жёлтый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472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Функция сброса — полное восстановление состояния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044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5/5 тестовых сценариев пройдены успешно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772</Words>
  <Application>Microsoft Office PowerPoint</Application>
  <PresentationFormat>Экран (16:9)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Камень Ножницы Бумага</dc:title>
  <dc:subject>PptxGenJS Presentation</dc:subject>
  <dc:creator>Muhammadjonov Fayzullo</dc:creator>
  <cp:lastModifiedBy>Fayzullo</cp:lastModifiedBy>
  <cp:revision>2</cp:revision>
  <dcterms:created xsi:type="dcterms:W3CDTF">2026-06-15T18:23:32Z</dcterms:created>
  <dcterms:modified xsi:type="dcterms:W3CDTF">2026-06-16T01:03:00Z</dcterms:modified>
</cp:coreProperties>
</file>